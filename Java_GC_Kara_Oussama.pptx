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01/18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8334" y="1403846"/>
            <a:ext cx="81001" cy="2835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43888" y="2621832"/>
            <a:ext cx="32205" cy="1127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4049" y="3007098"/>
            <a:ext cx="33180" cy="11613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01560" y="5236296"/>
            <a:ext cx="37620" cy="1316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5204" y="5921467"/>
            <a:ext cx="74925" cy="2622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56549" y="812730"/>
            <a:ext cx="98080" cy="3432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75023" y="1216437"/>
            <a:ext cx="52818" cy="1848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01</a:t>
            </a:r>
          </a:p>
        </p:txBody>
      </p:sp>
      <p:pic>
        <p:nvPicPr>
          <p:cNvPr id="12" name="Picture 11" descr="c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40080"/>
            <a:ext cx="3749039" cy="5394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863840" y="640080"/>
            <a:ext cx="88900" cy="539496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5623560"/>
            <a:ext cx="3749039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0584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YOUCODE  •  JAVA DEEP-DIVE</a:t>
            </a:r>
          </a:p>
          <a:p>
            <a:pPr>
              <a:spcAft>
                <a:spcPts val="400"/>
              </a:spcAft>
            </a:pPr>
            <a:r>
              <a:rPr sz="5200" b="1">
                <a:solidFill>
                  <a:srgbClr val="EEEEEE"/>
                </a:solidFill>
                <a:latin typeface="Bebas Neue"/>
              </a:rPr>
              <a:t>JAVA MEMORY</a:t>
            </a:r>
            <a:r>
              <a:rPr sz="5200" b="1">
                <a:solidFill>
                  <a:srgbClr val="9AA7AD"/>
                </a:solidFill>
                <a:latin typeface="Bebas Neue"/>
              </a:rPr>
              <a:t> &amp; </a:t>
            </a:r>
            <a:r>
              <a:rPr sz="5200" b="1">
                <a:solidFill>
                  <a:srgbClr val="76ABAE"/>
                </a:solidFill>
                <a:latin typeface="Bebas Neue"/>
              </a:rPr>
              <a:t>GARBAGE</a:t>
            </a:r>
            <a:r>
              <a:rPr sz="5200" b="1">
                <a:solidFill>
                  <a:srgbClr val="EEEEEE"/>
                </a:solidFill>
                <a:latin typeface="Bebas Neue"/>
              </a:rPr>
              <a:t> COLLECTOR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EEEEEE"/>
                </a:solidFill>
                <a:latin typeface="Inter"/>
              </a:rPr>
              <a:t>How Java cleans up after you — heap, generations, collectors, live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3108960" cy="64008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831"/>
                </a:solidFill>
                <a:latin typeface="Bebas Neue"/>
              </a:rPr>
              <a:t>KARA OUSSAMA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8920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7AD"/>
                </a:solidFill>
                <a:latin typeface="Inter"/>
              </a:rPr>
              <a:t>15 min  •  Beginner  •  Java 17 + G1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02/18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381885" y="3845894"/>
            <a:ext cx="80012" cy="28004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6221" y="904608"/>
            <a:ext cx="32336" cy="1131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6084" y="2972780"/>
            <a:ext cx="53285" cy="1864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21339" y="2248103"/>
            <a:ext cx="92806" cy="3248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88822" y="3805208"/>
            <a:ext cx="70653" cy="2472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218" y="2181039"/>
            <a:ext cx="108096" cy="37833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0204" y="4841083"/>
            <a:ext cx="39939" cy="1397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02 — ROADMAP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WHAT WE </a:t>
            </a:r>
            <a:r>
              <a:rPr sz="4000" b="1">
                <a:solidFill>
                  <a:srgbClr val="76ABAE"/>
                </a:solidFill>
                <a:latin typeface="Bebas Neue"/>
              </a:rPr>
              <a:t>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2057400" cy="301752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1508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6ABAE"/>
                </a:solidFill>
                <a:latin typeface="Bebas Neue"/>
              </a:rPr>
              <a:t>01  THE PROBLEM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manual vs auto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468880"/>
            <a:ext cx="2057400" cy="301752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743200"/>
            <a:ext cx="1508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6ABAE"/>
                </a:solidFill>
                <a:latin typeface="Bebas Neue"/>
              </a:rPr>
              <a:t>02  MEMORY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stack • heap • metaspace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468880"/>
            <a:ext cx="2057400" cy="301752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743200"/>
            <a:ext cx="1508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6ABAE"/>
                </a:solidFill>
                <a:latin typeface="Bebas Neue"/>
              </a:rPr>
              <a:t>03  HOW GC WORKS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roots • sweep • generations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057400" cy="301752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948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1508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6ABAE"/>
                </a:solidFill>
                <a:latin typeface="Bebas Neue"/>
              </a:rPr>
              <a:t>04  COLLECTORS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G1, Parallel, ZGC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468880"/>
            <a:ext cx="2057400" cy="301752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743200"/>
            <a:ext cx="1508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6ABAE"/>
                </a:solidFill>
                <a:latin typeface="Bebas Neue"/>
              </a:rPr>
              <a:t>05  LIVE DEMO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logs + VisualVM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03/18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803143" y="4336942"/>
            <a:ext cx="90353" cy="3162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32310" y="2327362"/>
            <a:ext cx="84652" cy="2962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34885" y="3134995"/>
            <a:ext cx="96557" cy="3379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54649" y="4313904"/>
            <a:ext cx="32424" cy="1134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4922" y="6178778"/>
            <a:ext cx="95073" cy="3327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9525" y="4339419"/>
            <a:ext cx="29288" cy="1025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453" y="1212488"/>
            <a:ext cx="32283" cy="1129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03 — THE PROBLEM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MANUAL vs </a:t>
            </a:r>
            <a:r>
              <a:rPr sz="4000" b="1">
                <a:solidFill>
                  <a:srgbClr val="76ABAE"/>
                </a:solidFill>
                <a:latin typeface="Bebas Neue"/>
              </a:rPr>
              <a:t>AUTOMATIC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383280" cy="320040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C / C++ MANUAL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you call malloc / free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forgotten free = leak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double free = crash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468880"/>
            <a:ext cx="338328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JAVA AUTOMATIC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just use  new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GC frees garbage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no dangling pointers</a:t>
            </a:r>
          </a:p>
        </p:txBody>
      </p:sp>
      <p:pic>
        <p:nvPicPr>
          <p:cNvPr id="19" name="Picture 18" descr="recy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0"/>
            <a:ext cx="3749039" cy="33832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863840" y="2286000"/>
            <a:ext cx="88900" cy="338328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5257800"/>
            <a:ext cx="3749039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04/18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8638" y="1952437"/>
            <a:ext cx="59605" cy="2086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4699" y="3095209"/>
            <a:ext cx="72648" cy="2542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5383" y="5446809"/>
            <a:ext cx="50344" cy="1762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68096" y="5561376"/>
            <a:ext cx="106249" cy="3718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588" y="1863668"/>
            <a:ext cx="46634" cy="1632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37833" y="2038224"/>
            <a:ext cx="27768" cy="971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5034" y="3759386"/>
            <a:ext cx="105868" cy="3705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04 — JVM MEMORY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STACK  •  </a:t>
            </a:r>
            <a:r>
              <a:rPr sz="4000" b="1">
                <a:solidFill>
                  <a:srgbClr val="76ABAE"/>
                </a:solidFill>
                <a:latin typeface="Bebas Neue"/>
              </a:rPr>
              <a:t>HEAP</a:t>
            </a:r>
            <a:r>
              <a:rPr sz="4000" b="1">
                <a:solidFill>
                  <a:srgbClr val="EEEEEE"/>
                </a:solidFill>
                <a:latin typeface="Bebas Neue"/>
              </a:rPr>
              <a:t>  •  METASPACE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38328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STACK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primitives + refs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one per thread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auto-freed on return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468880"/>
            <a:ext cx="3383280" cy="310896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HEAP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all objects live here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shared, GC-managed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Eden → Old 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468880"/>
            <a:ext cx="338328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METASPACE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class metadata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native memory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leaks → 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05/18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6417" y="4049946"/>
            <a:ext cx="83080" cy="2907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00662" y="4970505"/>
            <a:ext cx="99400" cy="3479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43013" y="2810562"/>
            <a:ext cx="35952" cy="1258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176" y="930452"/>
            <a:ext cx="44612" cy="1561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59289" y="846705"/>
            <a:ext cx="27451" cy="960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7664" y="2610046"/>
            <a:ext cx="29530" cy="1033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16117" y="1390814"/>
            <a:ext cx="48191" cy="1686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05 — CORE SPLIT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STACK vs </a:t>
            </a:r>
            <a:r>
              <a:rPr sz="4000" b="1">
                <a:solidFill>
                  <a:srgbClr val="76ABAE"/>
                </a:solidFill>
                <a:latin typeface="Bebas Neue"/>
              </a:rPr>
              <a:t>HEAP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291840" cy="320040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2918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STACK — FAST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int x = 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LIFO, thread-local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gone when method 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2468880"/>
            <a:ext cx="329184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23360" y="2468880"/>
            <a:ext cx="32918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7432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HEAP — SHARED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new Object()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global, slower alloc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GC decides lifetime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468880"/>
            <a:ext cx="4114800" cy="3200400"/>
          </a:xfrm>
          <a:prstGeom prst="roundRect">
            <a:avLst/>
          </a:prstGeom>
          <a:solidFill>
            <a:srgbClr val="31363F"/>
          </a:solidFill>
          <a:ln w="15875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6974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int x = 5;               // stack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76ABAE"/>
                </a:solidFill>
                <a:latin typeface="Consolas"/>
              </a:rPr>
              <a:t>User u = new User();     // heap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u = null;  // now garbage 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06/18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428250" y="1245067"/>
            <a:ext cx="97296" cy="3405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64189" y="3291634"/>
            <a:ext cx="34499" cy="1207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88095" y="2049620"/>
            <a:ext cx="95643" cy="33475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408" y="5940043"/>
            <a:ext cx="70905" cy="24816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5217" y="701951"/>
            <a:ext cx="70893" cy="2481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96737" y="4495574"/>
            <a:ext cx="48920" cy="1712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29227" y="4924972"/>
            <a:ext cx="71262" cy="2494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06 — OFTEN FORGOTTEN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METASPACE IN </a:t>
            </a:r>
            <a:r>
              <a:rPr sz="4000" b="1">
                <a:solidFill>
                  <a:srgbClr val="76ABAE"/>
                </a:solidFill>
                <a:latin typeface="Bebas Neue"/>
              </a:rPr>
              <a:t>20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class bytecode metadata — not objects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off-heap (native memory)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watch for: bad redeploys, proxies → OOM</a:t>
            </a:r>
          </a:p>
        </p:txBody>
      </p:sp>
      <p:pic>
        <p:nvPicPr>
          <p:cNvPr id="14" name="Picture 13" descr="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0"/>
            <a:ext cx="3749039" cy="33832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863840" y="2286000"/>
            <a:ext cx="88900" cy="338328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5257800"/>
            <a:ext cx="3749039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07/18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3397" y="1813125"/>
            <a:ext cx="94216" cy="3297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7414" y="5118525"/>
            <a:ext cx="94777" cy="3317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95193" y="3483278"/>
            <a:ext cx="56693" cy="19842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7417" y="2132741"/>
            <a:ext cx="48761" cy="1706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6336" y="3084098"/>
            <a:ext cx="104545" cy="3659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9441" y="2615862"/>
            <a:ext cx="45575" cy="15951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151" y="1707289"/>
            <a:ext cx="78790" cy="2757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07 — KEY IDEA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WHAT IS </a:t>
            </a:r>
            <a:r>
              <a:rPr sz="4000" b="1">
                <a:solidFill>
                  <a:srgbClr val="76ABAE"/>
                </a:solidFill>
                <a:latin typeface="Bebas Neue"/>
              </a:rPr>
              <a:t>GARBAGE?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38328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GC ROOTS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stack refs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static fields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JNI handles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468880"/>
            <a:ext cx="3383280" cy="310896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REACHABLE = LIVE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follow refs from roots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anything found stays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468880"/>
            <a:ext cx="338328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468880"/>
            <a:ext cx="338328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74320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ELSE = GARBAGE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unreachable → freed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cycles still collected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08/18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9741389" y="3266909"/>
            <a:ext cx="81169" cy="2840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11521" y="4293685"/>
            <a:ext cx="102303" cy="3580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4086" y="3258741"/>
            <a:ext cx="42123" cy="1474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75215" y="5088733"/>
            <a:ext cx="107395" cy="3758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3502" y="5916297"/>
            <a:ext cx="87080" cy="3047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2959" y="1405555"/>
            <a:ext cx="101897" cy="35664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96433" y="5234359"/>
            <a:ext cx="108107" cy="3783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08 — ALGORITHM 1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MARK-AND-</a:t>
            </a:r>
            <a:r>
              <a:rPr sz="4000" b="1">
                <a:solidFill>
                  <a:srgbClr val="76ABAE"/>
                </a:solidFill>
                <a:latin typeface="Bebas Neue"/>
              </a:rPr>
              <a:t>SWEEP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12064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1. MARK — walk from roots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tag every live object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pause the world (STW)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68880"/>
            <a:ext cx="5120640" cy="320040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2. SWEEP — free the rest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reclaim dead blocks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leaves fragmentation 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76ABAE"/>
                </a:solidFill>
                <a:latin typeface="Consolas"/>
              </a:rPr>
              <a:t>■■■■■■□□■■□■■■■□□□□   →   MARK live ■  →  SWEEP □ free (gaps remain)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09/18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274794" y="3659147"/>
            <a:ext cx="38211" cy="1337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96700" y="4231827"/>
            <a:ext cx="70767" cy="2476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05199" y="5490794"/>
            <a:ext cx="95421" cy="3339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75148" y="2209549"/>
            <a:ext cx="47227" cy="1652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59150" y="2924139"/>
            <a:ext cx="38218" cy="1337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2461" y="3146082"/>
            <a:ext cx="75439" cy="2640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8154" y="5751457"/>
            <a:ext cx="68715" cy="2405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09 — FIX FRAGMENTATION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COMPACT  +  </a:t>
            </a:r>
            <a:r>
              <a:rPr sz="4000" b="1">
                <a:solidFill>
                  <a:srgbClr val="76ABAE"/>
                </a:solidFill>
                <a:latin typeface="Bebas Neue"/>
              </a:rPr>
              <a:t>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120640" cy="310896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MARK-COMPACT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slide survivors together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one free block, slower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68880"/>
            <a:ext cx="512064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COPYING (Eden → S0/S1)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copy live to other half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perfect for short-lived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76ABAE"/>
                </a:solidFill>
                <a:latin typeface="Consolas"/>
              </a:rPr>
              <a:t>■□■■□□ → COMPACT → ■■■■□□□□      EDEN ■□■ → COPY → S1 ■■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10/18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5831" y="654683"/>
            <a:ext cx="63652" cy="2227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9629" y="5079361"/>
            <a:ext cx="41615" cy="1456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5784" y="3703456"/>
            <a:ext cx="54259" cy="1899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62091" y="4994900"/>
            <a:ext cx="36164" cy="1265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37883" y="2118560"/>
            <a:ext cx="90985" cy="3184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2233" y="4857253"/>
            <a:ext cx="102526" cy="35884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98925" y="3414762"/>
            <a:ext cx="69580" cy="2435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10 — GENERATIONAL HYPOTHESIS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MOST OBJECTS </a:t>
            </a:r>
            <a:r>
              <a:rPr sz="4000" b="1">
                <a:solidFill>
                  <a:srgbClr val="76ABAE"/>
                </a:solidFill>
                <a:latin typeface="Bebas Neue"/>
              </a:rPr>
              <a:t>DIE YOUNG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2286000" cy="237744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22860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EDEN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new objects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468880"/>
            <a:ext cx="2286000" cy="237744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2468880"/>
            <a:ext cx="22860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S0 / S1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survivors ×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383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76ABAE"/>
                </a:solidFill>
                <a:latin typeface="Inter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468880"/>
            <a:ext cx="2286000" cy="237744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2468880"/>
            <a:ext cx="22860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74320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OLD GEN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long-lived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3383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76ABAE"/>
                </a:solidFill>
                <a:latin typeface="Inter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468880"/>
            <a:ext cx="2286000" cy="237744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0" y="2468880"/>
            <a:ext cx="22860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74320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METASPACE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3832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76ABAE"/>
                </a:solidFill>
                <a:latin typeface="Inter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09728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AA7AD"/>
                </a:solidFill>
                <a:latin typeface="Inter"/>
              </a:rPr>
              <a:t>new → Eden  •  survive → S0↔S1  •  survive long → Old Gen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11/18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1984" y="3571984"/>
            <a:ext cx="66772" cy="2337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66010" y="5517965"/>
            <a:ext cx="104969" cy="3673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07516" y="5896284"/>
            <a:ext cx="96560" cy="33796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22535" y="3055131"/>
            <a:ext cx="33402" cy="1169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1471" y="4344065"/>
            <a:ext cx="91946" cy="3218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8717" y="4608524"/>
            <a:ext cx="81768" cy="2861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14360" y="6033922"/>
            <a:ext cx="45503" cy="1592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11 — GC EVENTS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MINOR vs </a:t>
            </a:r>
            <a:r>
              <a:rPr sz="4000" b="1">
                <a:solidFill>
                  <a:srgbClr val="76ABAE"/>
                </a:solidFill>
                <a:latin typeface="Bebas Neue"/>
              </a:rPr>
              <a:t>MAJOR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12064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MINOR GC — YOUNG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Eden full → clean Eden+S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frequent, fast (ms)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most garbage dies here 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68880"/>
            <a:ext cx="5120640" cy="320040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MAJOR / FULL — OLD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Old Gen full → full sweep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rare, slow, avoid it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tune heap to delay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12/18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8586" y="3311057"/>
            <a:ext cx="108894" cy="3811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67023" y="2995058"/>
            <a:ext cx="69864" cy="2445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49424" y="2354450"/>
            <a:ext cx="86862" cy="30401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6567" y="3045720"/>
            <a:ext cx="28920" cy="1012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26090" y="3452798"/>
            <a:ext cx="32722" cy="1145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60485" y="6057456"/>
            <a:ext cx="36054" cy="1261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7393" y="4964994"/>
            <a:ext cx="49688" cy="17391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12 — PICK YOUR FIGHTER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JAVA </a:t>
            </a:r>
            <a:r>
              <a:rPr sz="4000" b="1">
                <a:solidFill>
                  <a:srgbClr val="76ABAE"/>
                </a:solidFill>
                <a:latin typeface="Bebas Neue"/>
              </a:rPr>
              <a:t>COLLECTORS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205740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SERIAL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1 thread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tiny apps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468880"/>
            <a:ext cx="205740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74320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PARALLEL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throughput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batch jobs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468880"/>
            <a:ext cx="2057400" cy="310896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74320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G1 ★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default 17+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balanced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05740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948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ZGC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&lt;1ms pause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huge heaps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468880"/>
            <a:ext cx="2057400" cy="310896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2468880"/>
            <a:ext cx="205740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743200"/>
            <a:ext cx="1508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ABAE"/>
                </a:solidFill>
                <a:latin typeface="Bebas Neue"/>
              </a:rPr>
              <a:t>SHENANDOAH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low pause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EEEEEE"/>
                </a:solidFill>
                <a:latin typeface="Inter"/>
              </a:rPr>
              <a:t>•  concurrent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AA7AD"/>
                </a:solidFill>
                <a:latin typeface="Inter"/>
              </a:rPr>
              <a:t>CMS deprecated — don’t use for new projects.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13/18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6292" y="5715700"/>
            <a:ext cx="94830" cy="3319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32061" y="5759680"/>
            <a:ext cx="74389" cy="2603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63771" y="874773"/>
            <a:ext cx="84068" cy="2942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3588" y="5868407"/>
            <a:ext cx="79643" cy="2787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9964" y="5402839"/>
            <a:ext cx="32914" cy="1152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27912" y="2471386"/>
            <a:ext cx="72946" cy="2553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3917" y="1281251"/>
            <a:ext cx="70794" cy="2477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13 — DEFAULT CHOICE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WHY </a:t>
            </a:r>
            <a:r>
              <a:rPr sz="4000" b="1">
                <a:solidFill>
                  <a:srgbClr val="76ABAE"/>
                </a:solidFill>
                <a:latin typeface="Bebas Neue"/>
              </a:rPr>
              <a:t>G1</a:t>
            </a:r>
            <a:r>
              <a:rPr sz="4000" b="1">
                <a:solidFill>
                  <a:srgbClr val="EEEEEE"/>
                </a:solidFill>
                <a:latin typeface="Bebas Neue"/>
              </a:rPr>
              <a:t>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heap split into regions (not fixed Eden/Old)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predictable pauses: -XX:MaxGCPauseMillis=200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EEEEE"/>
                </a:solidFill>
                <a:latin typeface="Inter"/>
              </a:rPr>
              <a:t>▸  balanced throughput + latency ★</a:t>
            </a:r>
          </a:p>
        </p:txBody>
      </p:sp>
      <p:pic>
        <p:nvPicPr>
          <p:cNvPr id="14" name="Picture 13" descr="ch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0"/>
            <a:ext cx="3749039" cy="33832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863840" y="2286000"/>
            <a:ext cx="88900" cy="338328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5257800"/>
            <a:ext cx="3749039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14/18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6765" y="1463940"/>
            <a:ext cx="31578" cy="11052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6247" y="2277801"/>
            <a:ext cx="89935" cy="3147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4588" y="1557204"/>
            <a:ext cx="55988" cy="19596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9686" y="635641"/>
            <a:ext cx="87761" cy="3071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9276" y="3240190"/>
            <a:ext cx="104349" cy="36522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1371" y="2998775"/>
            <a:ext cx="68168" cy="2385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0902" y="3421184"/>
            <a:ext cx="84030" cy="2941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14 — CONTROL IT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FLAGS + </a:t>
            </a:r>
            <a:r>
              <a:rPr sz="4000" b="1">
                <a:solidFill>
                  <a:srgbClr val="76ABAE"/>
                </a:solidFill>
                <a:latin typeface="Bebas Neue"/>
              </a:rPr>
              <a:t>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669280" cy="3200400"/>
          </a:xfrm>
          <a:prstGeom prst="roundRect">
            <a:avLst/>
          </a:prstGeom>
          <a:solidFill>
            <a:srgbClr val="31363F"/>
          </a:solidFill>
          <a:ln w="15875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-Xms512m -Xmx2g          # heap min/max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76ABAE"/>
                </a:solidFill>
                <a:latin typeface="Consolas"/>
              </a:rPr>
              <a:t>-XX:+UseG1GC             # default 17+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-Xlog:gc*                # GC logs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jconsole / visualvm      # watch heap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468880"/>
            <a:ext cx="512064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VISUALVM FLOW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run app → attach process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watch Heap + GC tabs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force GC, see graph drop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15/18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8863" y="5267105"/>
            <a:ext cx="85592" cy="2995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80438" y="2519010"/>
            <a:ext cx="31907" cy="11167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4721" y="4748948"/>
            <a:ext cx="48466" cy="16963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08246" y="5318029"/>
            <a:ext cx="99073" cy="34675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10917" y="1921812"/>
            <a:ext cx="51549" cy="1804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3147" y="3076144"/>
            <a:ext cx="49095" cy="1718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216030" y="3650152"/>
            <a:ext cx="47548" cy="1664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15 — LIVE DEMO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76ABAE"/>
                </a:solidFill>
                <a:latin typeface="Bebas Neue"/>
              </a:rPr>
              <a:t>TRASH</a:t>
            </a:r>
            <a:r>
              <a:rPr sz="4000" b="1">
                <a:solidFill>
                  <a:srgbClr val="EEEEEE"/>
                </a:solidFill>
                <a:latin typeface="Bebas Neue"/>
              </a:rPr>
              <a:t>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6766560" cy="3200400"/>
          </a:xfrm>
          <a:prstGeom prst="roundRect">
            <a:avLst/>
          </a:prstGeom>
          <a:solidFill>
            <a:srgbClr val="31363F"/>
          </a:solidFill>
          <a:ln w="15875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6217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for (i=1..12) {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76ABAE"/>
                </a:solidFill>
                <a:latin typeface="Consolas"/>
              </a:rPr>
              <a:t>  for (j=0..50000) new Trash(); // dies ★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  for (k=0..500) leak.add(..);  // survives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  sleep(400);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run: java -Xlog:gc* GCDemo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468880"/>
            <a:ext cx="402336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2468880"/>
            <a:ext cx="402336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WHAT TO WATCH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sawtooth heap graph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[gc] Eden → S → Old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pauses in 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16/18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8977" y="2570214"/>
            <a:ext cx="27519" cy="963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0732" y="3398949"/>
            <a:ext cx="43971" cy="1539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986" y="2046286"/>
            <a:ext cx="34818" cy="12186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0583" y="676165"/>
            <a:ext cx="52470" cy="1836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98339" y="3548763"/>
            <a:ext cx="89198" cy="3121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53153" y="5532451"/>
            <a:ext cx="59487" cy="20820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51082" y="1395988"/>
            <a:ext cx="87027" cy="30459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16 — WHAT YOU SEE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EEEEEE"/>
                </a:solidFill>
                <a:latin typeface="Bebas Neue"/>
              </a:rPr>
              <a:t>LOGS + </a:t>
            </a:r>
            <a:r>
              <a:rPr sz="4000" b="1">
                <a:solidFill>
                  <a:srgbClr val="76ABAE"/>
                </a:solidFill>
                <a:latin typeface="Bebas Neue"/>
              </a:rPr>
              <a:t>HEAP</a:t>
            </a:r>
            <a:r>
              <a:rPr sz="4000" b="1">
                <a:solidFill>
                  <a:srgbClr val="EEEEEE"/>
                </a:solidFill>
                <a:latin typeface="Bebas Neue"/>
              </a:rPr>
              <a:t>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6766560" cy="3200400"/>
          </a:xfrm>
          <a:prstGeom prst="roundRect">
            <a:avLst/>
          </a:prstGeom>
          <a:solidFill>
            <a:srgbClr val="31363F"/>
          </a:solidFill>
          <a:ln w="15875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6217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76ABAE"/>
                </a:solidFill>
                <a:latin typeface="Consolas"/>
              </a:rPr>
              <a:t>[gc] GC(12) Pause Young (Normal) 24M→5M  3.2ms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[gc] GC(20) Pause Young 41M→9M (Eden full)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9AA7AD"/>
                </a:solidFill>
                <a:latin typeface="Consolas"/>
              </a:rPr>
              <a:t>heap: /\/\/\___/\/\/\___  sawtooth = healthy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EEEEEE"/>
                </a:solidFill>
                <a:latin typeface="Consolas"/>
              </a:rPr>
              <a:t>VisualVM: Monitor → Heap → [Perform GC]</a:t>
            </a:r>
          </a:p>
        </p:txBody>
      </p:sp>
      <p:pic>
        <p:nvPicPr>
          <p:cNvPr id="15" name="Picture 14" descr="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468880"/>
            <a:ext cx="4023360" cy="3200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498079" y="2468880"/>
            <a:ext cx="88900" cy="32004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257800"/>
            <a:ext cx="4023360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17/18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245" y="5284130"/>
            <a:ext cx="100835" cy="3529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52379" y="5153336"/>
            <a:ext cx="38896" cy="1361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92362" y="5282134"/>
            <a:ext cx="93653" cy="3277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81363" y="5610341"/>
            <a:ext cx="83631" cy="29271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30905" y="725297"/>
            <a:ext cx="38385" cy="13434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36174" y="5287144"/>
            <a:ext cx="73396" cy="2568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51741" y="4407515"/>
            <a:ext cx="67698" cy="2369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17 — GC CAN’T SAVE YOU</a:t>
            </a:r>
          </a:p>
          <a:p>
            <a:pPr>
              <a:spcAft>
                <a:spcPts val="200"/>
              </a:spcAft>
            </a:pPr>
            <a:r>
              <a:rPr sz="4000" b="1">
                <a:solidFill>
                  <a:srgbClr val="76ABAE"/>
                </a:solidFill>
                <a:latin typeface="Bebas Neue"/>
              </a:rPr>
              <a:t>LEAKS</a:t>
            </a:r>
            <a:r>
              <a:rPr sz="4000" b="1">
                <a:solidFill>
                  <a:srgbClr val="EEEEEE"/>
                </a:solidFill>
                <a:latin typeface="Bebas Neue"/>
              </a:rPr>
              <a:t> + BEST PRACTICES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5120640" cy="3200400"/>
          </a:xfrm>
          <a:prstGeom prst="roundRect">
            <a:avLst/>
          </a:prstGeom>
          <a:solidFill>
            <a:srgbClr val="31363F"/>
          </a:solidFill>
          <a:ln w="254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LEAKS (still reachable!)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static List that grows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forgotten listeners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uncached caches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68880"/>
            <a:ext cx="5120640" cy="3200400"/>
          </a:xfrm>
          <a:prstGeom prst="round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468880"/>
            <a:ext cx="5120640" cy="101600"/>
          </a:xfrm>
          <a:prstGeom prst="round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ABAE"/>
                </a:solidFill>
                <a:latin typeface="Bebas Neue"/>
              </a:rPr>
              <a:t>DO THIS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bound collections / WeakHashMap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remove listeners, close()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EEEEEE"/>
                </a:solidFill>
                <a:latin typeface="Inter"/>
              </a:rPr>
              <a:t>•  size heap: Xms ≈ Xmx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11091672" cy="5080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KARA OUSSAMA  •  JAVA MEMORY &amp; GC  •  18/18</a:t>
            </a:r>
          </a:p>
        </p:txBody>
      </p:sp>
      <p:sp>
        <p:nvSpPr>
          <p:cNvPr id="4" name="Rectangle 3"/>
          <p:cNvSpPr/>
          <p:nvPr/>
        </p:nvSpPr>
        <p:spPr>
          <a:xfrm>
            <a:off x="9264618" y="4790765"/>
            <a:ext cx="68824" cy="2408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20694" y="923097"/>
            <a:ext cx="88066" cy="30823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6300" y="2054163"/>
            <a:ext cx="87453" cy="30608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19051" y="6080355"/>
            <a:ext cx="68082" cy="23828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09444" y="4424707"/>
            <a:ext cx="90550" cy="31692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36218" y="987849"/>
            <a:ext cx="39564" cy="13847"/>
          </a:xfrm>
          <a:prstGeom prst="rect">
            <a:avLst/>
          </a:prstGeom>
          <a:solidFill>
            <a:srgbClr val="3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6853" y="2274465"/>
            <a:ext cx="74156" cy="25954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6263640"/>
            <a:ext cx="777240" cy="330200"/>
          </a:xfrm>
          <a:prstGeom prst="rect">
            <a:avLst/>
          </a:prstGeom>
          <a:solidFill>
            <a:srgbClr val="31363F"/>
          </a:solidFill>
          <a:ln w="12700">
            <a:solidFill>
              <a:srgbClr val="76A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76ABAE"/>
                </a:solidFill>
                <a:latin typeface="Bebas Neue"/>
              </a:rPr>
              <a:t>18</a:t>
            </a:r>
          </a:p>
        </p:txBody>
      </p:sp>
      <p:pic>
        <p:nvPicPr>
          <p:cNvPr id="12" name="Picture 11" descr="recy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40080"/>
            <a:ext cx="3749039" cy="5394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863840" y="640080"/>
            <a:ext cx="88900" cy="5394960"/>
          </a:xfrm>
          <a:prstGeom prst="rect">
            <a:avLst/>
          </a:prstGeom>
          <a:solidFill>
            <a:srgbClr val="76A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5623560"/>
            <a:ext cx="3749039" cy="411480"/>
          </a:xfrm>
          <a:prstGeom prst="rect">
            <a:avLst/>
          </a:prstGeom>
          <a:solidFill>
            <a:srgbClr val="222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91440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6ABAE"/>
                </a:solidFill>
                <a:latin typeface="Inter"/>
              </a:rPr>
              <a:t>18 — WRAP-UP</a:t>
            </a:r>
          </a:p>
          <a:p>
            <a:r>
              <a:rPr sz="5200" b="1">
                <a:solidFill>
                  <a:srgbClr val="EEEEEE"/>
                </a:solidFill>
                <a:latin typeface="Bebas Neue"/>
              </a:rPr>
              <a:t>THANK YOU.
QUESTIONS?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7AD"/>
                </a:solidFill>
                <a:latin typeface="Inter"/>
              </a:rPr>
              <a:t>GC = reachability  •  generations  •  G1 default  •  watch it in VisualVM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9AA7AD"/>
                </a:solidFill>
                <a:latin typeface="Inter"/>
              </a:rPr>
              <a:t>Sources: Oracle JVM docs • JEP 376 (ZGC) • JEP 379 (Shenandoah) • Unsplash photos (embedded)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